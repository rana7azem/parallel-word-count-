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6858000" cx="12192000"/>
  <p:notesSz cx="6858000" cy="9144000"/>
  <p:embeddedFontLst>
    <p:embeddedFont>
      <p:font typeface="Lato"/>
      <p:regular r:id="rId27"/>
      <p:bold r:id="rId28"/>
      <p:italic r:id="rId29"/>
      <p:boldItalic r:id="rId30"/>
    </p:embeddedFont>
    <p:embeddedFont>
      <p:font typeface="Poppins"/>
      <p:regular r:id="rId31"/>
      <p:bold r:id="rId32"/>
      <p:italic r:id="rId33"/>
      <p:boldItalic r:id="rId34"/>
    </p:embeddedFont>
    <p:embeddedFont>
      <p:font typeface="Poppins SemiBold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F821A0-80F1-401C-AF34-D58A31AA1EB3}">
  <a:tblStyle styleId="{F1F821A0-80F1-401C-AF34-D58A31AA1EB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Lato-bold.fntdata"/><Relationship Id="rId27" Type="http://schemas.openxmlformats.org/officeDocument/2006/relationships/font" Target="fonts/Lat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-regular.fntdata"/><Relationship Id="rId30" Type="http://schemas.openxmlformats.org/officeDocument/2006/relationships/font" Target="fonts/Lato-boldItalic.fntdata"/><Relationship Id="rId11" Type="http://schemas.openxmlformats.org/officeDocument/2006/relationships/slide" Target="slides/slide5.xml"/><Relationship Id="rId33" Type="http://schemas.openxmlformats.org/officeDocument/2006/relationships/font" Target="fonts/Poppins-italic.fntdata"/><Relationship Id="rId10" Type="http://schemas.openxmlformats.org/officeDocument/2006/relationships/slide" Target="slides/slide4.xml"/><Relationship Id="rId32" Type="http://schemas.openxmlformats.org/officeDocument/2006/relationships/font" Target="fonts/Poppins-bold.fntdata"/><Relationship Id="rId13" Type="http://schemas.openxmlformats.org/officeDocument/2006/relationships/slide" Target="slides/slide7.xml"/><Relationship Id="rId35" Type="http://schemas.openxmlformats.org/officeDocument/2006/relationships/font" Target="fonts/PoppinsSemiBold-regular.fntdata"/><Relationship Id="rId12" Type="http://schemas.openxmlformats.org/officeDocument/2006/relationships/slide" Target="slides/slide6.xml"/><Relationship Id="rId34" Type="http://schemas.openxmlformats.org/officeDocument/2006/relationships/font" Target="fonts/Poppins-boldItalic.fntdata"/><Relationship Id="rId15" Type="http://schemas.openxmlformats.org/officeDocument/2006/relationships/slide" Target="slides/slide9.xml"/><Relationship Id="rId37" Type="http://schemas.openxmlformats.org/officeDocument/2006/relationships/font" Target="fonts/PoppinsSemiBold-italic.fntdata"/><Relationship Id="rId14" Type="http://schemas.openxmlformats.org/officeDocument/2006/relationships/slide" Target="slides/slide8.xml"/><Relationship Id="rId36" Type="http://schemas.openxmlformats.org/officeDocument/2006/relationships/font" Target="fonts/PoppinsSemiBold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schemas.openxmlformats.org/officeDocument/2006/relationships/font" Target="fonts/PoppinsSemiBold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16.png"/><Relationship Id="rId7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21.png"/><Relationship Id="rId5" Type="http://schemas.openxmlformats.org/officeDocument/2006/relationships/image" Target="../media/image3.png"/><Relationship Id="rId6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4.png"/><Relationship Id="rId9" Type="http://schemas.openxmlformats.org/officeDocument/2006/relationships/image" Target="../media/image26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6.png"/><Relationship Id="rId8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2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21.png"/><Relationship Id="rId5" Type="http://schemas.openxmlformats.org/officeDocument/2006/relationships/image" Target="../media/image17.png"/><Relationship Id="rId6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2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2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Relationship Id="rId4" Type="http://schemas.openxmlformats.org/officeDocument/2006/relationships/image" Target="../media/image25.png"/><Relationship Id="rId5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Relationship Id="rId4" Type="http://schemas.openxmlformats.org/officeDocument/2006/relationships/image" Target="../media/image2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Relationship Id="rId4" Type="http://schemas.openxmlformats.org/officeDocument/2006/relationships/image" Target="../media/image4.png"/><Relationship Id="rId9" Type="http://schemas.openxmlformats.org/officeDocument/2006/relationships/image" Target="../media/image28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33.png"/><Relationship Id="rId8" Type="http://schemas.openxmlformats.org/officeDocument/2006/relationships/image" Target="../media/image3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4304258"/>
            <a:ext cx="11049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PHASE 3: FAULT TOLERANCE &amp; STREAMING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95275" y="2372766"/>
            <a:ext cx="11601450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Parallel Word Count System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3328987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Distributed Computation Engine via gRPC and MPI Backend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43150"/>
            <a:ext cx="5286375" cy="3000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343150"/>
            <a:ext cx="5286375" cy="3000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2762250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15125" y="27622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EXECUTIVE SUMMARY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571500" y="571500"/>
            <a:ext cx="57150" cy="5429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952500" y="3333750"/>
            <a:ext cx="475059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Core Integration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52500" y="3857625"/>
            <a:ext cx="4524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Combines Python gRPC for reliable API delivery with C++ MPI for high-performance parallel computation on the backend.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715125" y="3333750"/>
            <a:ext cx="475059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Fault Tolerance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715125" y="3857625"/>
            <a:ext cx="4524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Features a replicated service model with automated client-side retries and idempotency through unique request identifiers.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952500" y="2895600"/>
            <a:ext cx="106680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1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"Traditional batch processing can no longer support applications requiring low latency, continuous data ingestion, and scalable processing." </a:t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571500" y="2895600"/>
            <a:ext cx="95250" cy="14287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571500" y="4514850"/>
            <a:ext cx="110490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— Project Requirement Overview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CHALLENGE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571500" y="571500"/>
            <a:ext cx="57150" cy="5429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571500" y="1400175"/>
            <a:ext cx="11049000" cy="4886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— Project Requirement Overview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38337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93833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SYSTEM ARCHITECTURE</a:t>
            </a:r>
            <a:endParaRPr/>
          </a:p>
        </p:txBody>
      </p:sp>
      <p:sp>
        <p:nvSpPr>
          <p:cNvPr id="122" name="Google Shape;122;p16"/>
          <p:cNvSpPr/>
          <p:nvPr/>
        </p:nvSpPr>
        <p:spPr>
          <a:xfrm>
            <a:off x="571500" y="571500"/>
            <a:ext cx="57150" cy="5429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952500" y="2090737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Client: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Orchestrates requests and collects performance metrics.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952500" y="2890837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gRPC Server: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Acts as the interface gateway between user and backend.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952500" y="3690937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MPI Engine: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Distributes word counting tasks across multiple processes.</a:t>
            </a:r>
            <a:endParaRPr/>
          </a:p>
        </p:txBody>
      </p:sp>
      <p:pic>
        <p:nvPicPr>
          <p:cNvPr descr="image.png" id="126" name="Google Shape;12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09073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89083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690937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95550"/>
            <a:ext cx="3492549" cy="2695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495550"/>
            <a:ext cx="3492549" cy="2695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495550"/>
            <a:ext cx="3492549" cy="2695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291465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30799" y="2914650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09099" y="2914650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TECHNOLOGY STACK</a:t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571500" y="571500"/>
            <a:ext cx="57150" cy="5429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952500" y="3486150"/>
            <a:ext cx="286707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Python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952500" y="4010025"/>
            <a:ext cx="273054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API implementation and gRPC Server management.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4730799" y="3486150"/>
            <a:ext cx="286707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C++ / MPI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4730799" y="4010025"/>
            <a:ext cx="273054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Performance-critical parallel word count engine.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8509099" y="3486150"/>
            <a:ext cx="286707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Spark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8509099" y="4010025"/>
            <a:ext cx="273054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Real-time structured streaming pipeline.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2" name="Google Shape;15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1049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/>
          <p:nvPr/>
        </p:nvSpPr>
        <p:spPr>
          <a:xfrm>
            <a:off x="5048250" y="3067050"/>
            <a:ext cx="952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 txBox="1"/>
          <p:nvPr/>
        </p:nvSpPr>
        <p:spPr>
          <a:xfrm>
            <a:off x="323850" y="2066925"/>
            <a:ext cx="1040130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323850" y="3105150"/>
            <a:ext cx="1040130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Backend Mechanisms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571500" y="4295775"/>
            <a:ext cx="9906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Parallel Processing &amp; Distributed Logic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REQUEST LIFECYCLE</a:t>
            </a:r>
            <a:endParaRPr/>
          </a:p>
        </p:txBody>
      </p:sp>
      <p:sp>
        <p:nvSpPr>
          <p:cNvPr id="164" name="Google Shape;164;p19"/>
          <p:cNvSpPr/>
          <p:nvPr/>
        </p:nvSpPr>
        <p:spPr>
          <a:xfrm>
            <a:off x="571500" y="571500"/>
            <a:ext cx="57150" cy="5429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>
            <a:off x="952500" y="2843212"/>
            <a:ext cx="10668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Ingestion: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Client sends unique request_id and text payload.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952500" y="3357562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Persistence: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Server writes input text to a temporary local file.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952500" y="3852862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Execution: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MPI engine starts via an external command process.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952500" y="4348162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Retrieval: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Server reads the result file and caches it in memory.</a:t>
            </a:r>
            <a:endParaRPr/>
          </a:p>
        </p:txBody>
      </p:sp>
      <p:pic>
        <p:nvPicPr>
          <p:cNvPr descr="image.png" id="169" name="Google Shape;16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4321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35756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5286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348162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7" name="Google Shape;17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/>
        </p:nvSpPr>
        <p:spPr>
          <a:xfrm>
            <a:off x="6334125" y="2928937"/>
            <a:ext cx="528637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IDEM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ENSURING IDEMPOTENCY</a:t>
            </a:r>
            <a:endParaRPr/>
          </a:p>
        </p:txBody>
      </p:sp>
      <p:sp>
        <p:nvSpPr>
          <p:cNvPr id="180" name="Google Shape;180;p20"/>
          <p:cNvSpPr/>
          <p:nvPr/>
        </p:nvSpPr>
        <p:spPr>
          <a:xfrm>
            <a:off x="571500" y="571500"/>
            <a:ext cx="57150" cy="5429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571500" y="3119437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To prevent inconsistent results during network failures, every request is tracked via an in-memory cache.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571500" y="3919537"/>
            <a:ext cx="52863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Duplicate request_id entries are detected instantly, allowing the server to return previous results without re-computation.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6334125" y="4262437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RELIABILITY CORE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38337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93833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1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MPI ENGINE DEEP DIVE</a:t>
            </a:r>
            <a:endParaRPr/>
          </a:p>
        </p:txBody>
      </p:sp>
      <p:sp>
        <p:nvSpPr>
          <p:cNvPr id="192" name="Google Shape;192;p21"/>
          <p:cNvSpPr/>
          <p:nvPr/>
        </p:nvSpPr>
        <p:spPr>
          <a:xfrm>
            <a:off x="571500" y="571500"/>
            <a:ext cx="57150" cy="5429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6334125" y="1938337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Parallel Counting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6334125" y="2405062"/>
            <a:ext cx="5286375" cy="93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system splits large text files (e.g., big.txt) into chunks. MPI ranks process these chunks concurrently, performing a final reduction to aggregate total counts.</a:t>
            </a:r>
            <a:endParaRPr/>
          </a:p>
        </p:txBody>
      </p:sp>
      <p:pic>
        <p:nvPicPr>
          <p:cNvPr descr="image.png" id="195" name="Google Shape;195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3529012"/>
            <a:ext cx="5286375" cy="49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0" name="Google Shape;20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1049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2"/>
          <p:cNvSpPr/>
          <p:nvPr/>
        </p:nvSpPr>
        <p:spPr>
          <a:xfrm>
            <a:off x="5048250" y="3067050"/>
            <a:ext cx="952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2"/>
          <p:cNvSpPr txBox="1"/>
          <p:nvPr/>
        </p:nvSpPr>
        <p:spPr>
          <a:xfrm>
            <a:off x="323850" y="2066925"/>
            <a:ext cx="1040130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/>
          </a:p>
        </p:txBody>
      </p:sp>
      <p:sp>
        <p:nvSpPr>
          <p:cNvPr id="204" name="Google Shape;204;p22"/>
          <p:cNvSpPr txBox="1"/>
          <p:nvPr/>
        </p:nvSpPr>
        <p:spPr>
          <a:xfrm>
            <a:off x="323850" y="3105150"/>
            <a:ext cx="1040130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Fault Tolerance</a:t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571500" y="4295775"/>
            <a:ext cx="9906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Replication and Failover Strategies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86050"/>
            <a:ext cx="5286375" cy="2314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686050"/>
            <a:ext cx="5286375" cy="231457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3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SERVICE REPLICATION</a:t>
            </a:r>
            <a:endParaRPr/>
          </a:p>
        </p:txBody>
      </p:sp>
      <p:sp>
        <p:nvSpPr>
          <p:cNvPr id="214" name="Google Shape;214;p23"/>
          <p:cNvSpPr/>
          <p:nvPr/>
        </p:nvSpPr>
        <p:spPr>
          <a:xfrm>
            <a:off x="571500" y="571500"/>
            <a:ext cx="57150" cy="5429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3"/>
          <p:cNvSpPr txBox="1"/>
          <p:nvPr/>
        </p:nvSpPr>
        <p:spPr>
          <a:xfrm>
            <a:off x="952500" y="3105150"/>
            <a:ext cx="475059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Replica 01</a:t>
            </a:r>
            <a:endParaRPr/>
          </a:p>
        </p:txBody>
      </p:sp>
      <p:sp>
        <p:nvSpPr>
          <p:cNvPr id="216" name="Google Shape;216;p23"/>
          <p:cNvSpPr txBox="1"/>
          <p:nvPr/>
        </p:nvSpPr>
        <p:spPr>
          <a:xfrm>
            <a:off x="952500" y="3629025"/>
            <a:ext cx="4524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Endpoint: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localhost:50051</a:t>
            </a:r>
            <a:endParaRPr/>
          </a:p>
        </p:txBody>
      </p:sp>
      <p:sp>
        <p:nvSpPr>
          <p:cNvPr id="217" name="Google Shape;217;p23"/>
          <p:cNvSpPr txBox="1"/>
          <p:nvPr/>
        </p:nvSpPr>
        <p:spPr>
          <a:xfrm>
            <a:off x="952500" y="4124325"/>
            <a:ext cx="4524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Primary serving port for initial client requests.</a:t>
            </a:r>
            <a:endParaRPr/>
          </a:p>
        </p:txBody>
      </p:sp>
      <p:sp>
        <p:nvSpPr>
          <p:cNvPr id="218" name="Google Shape;218;p23"/>
          <p:cNvSpPr txBox="1"/>
          <p:nvPr/>
        </p:nvSpPr>
        <p:spPr>
          <a:xfrm>
            <a:off x="6715125" y="3105150"/>
            <a:ext cx="475059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Replica 02</a:t>
            </a:r>
            <a:endParaRPr/>
          </a:p>
        </p:txBody>
      </p:sp>
      <p:sp>
        <p:nvSpPr>
          <p:cNvPr id="219" name="Google Shape;219;p23"/>
          <p:cNvSpPr txBox="1"/>
          <p:nvPr/>
        </p:nvSpPr>
        <p:spPr>
          <a:xfrm>
            <a:off x="6715125" y="3629025"/>
            <a:ext cx="4524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Endpoint: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localhost:50052</a:t>
            </a:r>
            <a:endParaRPr/>
          </a:p>
        </p:txBody>
      </p:sp>
      <p:sp>
        <p:nvSpPr>
          <p:cNvPr id="220" name="Google Shape;220;p23"/>
          <p:cNvSpPr txBox="1"/>
          <p:nvPr/>
        </p:nvSpPr>
        <p:spPr>
          <a:xfrm>
            <a:off x="6715125" y="4124325"/>
            <a:ext cx="4524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Secondary fallback port for high availability.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5" name="Google Shape;22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4"/>
          <p:cNvSpPr txBox="1"/>
          <p:nvPr/>
        </p:nvSpPr>
        <p:spPr>
          <a:xfrm>
            <a:off x="762000" y="1871662"/>
            <a:ext cx="50006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FAULT-AWARE CLIENT</a:t>
            </a:r>
            <a:endParaRPr/>
          </a:p>
        </p:txBody>
      </p:sp>
      <p:sp>
        <p:nvSpPr>
          <p:cNvPr id="228" name="Google Shape;228;p24"/>
          <p:cNvSpPr/>
          <p:nvPr/>
        </p:nvSpPr>
        <p:spPr>
          <a:xfrm>
            <a:off x="571500" y="1871662"/>
            <a:ext cx="57150" cy="5429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4"/>
          <p:cNvSpPr txBox="1"/>
          <p:nvPr/>
        </p:nvSpPr>
        <p:spPr>
          <a:xfrm>
            <a:off x="571500" y="2890837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client maintains a list of all available replicas. Upon detecting a connection timeout or server crash, it automatically rotates to the next available endpoint.</a:t>
            </a:r>
            <a:endParaRPr/>
          </a:p>
        </p:txBody>
      </p:sp>
      <p:sp>
        <p:nvSpPr>
          <p:cNvPr id="230" name="Google Shape;230;p24"/>
          <p:cNvSpPr txBox="1"/>
          <p:nvPr/>
        </p:nvSpPr>
        <p:spPr>
          <a:xfrm>
            <a:off x="571500" y="4186237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Zero Manual Intervention: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The system maintains continuous operation even during individual node failures.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1049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5"/>
          <p:cNvSpPr/>
          <p:nvPr/>
        </p:nvSpPr>
        <p:spPr>
          <a:xfrm>
            <a:off x="5048250" y="3067050"/>
            <a:ext cx="952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5"/>
          <p:cNvSpPr txBox="1"/>
          <p:nvPr/>
        </p:nvSpPr>
        <p:spPr>
          <a:xfrm>
            <a:off x="323850" y="2066925"/>
            <a:ext cx="1040130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/>
          </a:p>
        </p:txBody>
      </p:sp>
      <p:sp>
        <p:nvSpPr>
          <p:cNvPr id="239" name="Google Shape;239;p25"/>
          <p:cNvSpPr txBox="1"/>
          <p:nvPr/>
        </p:nvSpPr>
        <p:spPr>
          <a:xfrm>
            <a:off x="323850" y="3105150"/>
            <a:ext cx="1040130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Performance &amp; Logs</a:t>
            </a:r>
            <a:endParaRPr/>
          </a:p>
        </p:txBody>
      </p:sp>
      <p:sp>
        <p:nvSpPr>
          <p:cNvPr id="240" name="Google Shape;240;p25"/>
          <p:cNvSpPr txBox="1"/>
          <p:nvPr/>
        </p:nvSpPr>
        <p:spPr>
          <a:xfrm>
            <a:off x="571500" y="4295775"/>
            <a:ext cx="9906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Experimental Evidence of Resilience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5" name="Google Shape;24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85937" y="2414587"/>
            <a:ext cx="28575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85937" y="2414587"/>
            <a:ext cx="28575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6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CASE: EXECUTION FAILURE</a:t>
            </a:r>
            <a:endParaRPr/>
          </a:p>
        </p:txBody>
      </p:sp>
      <p:sp>
        <p:nvSpPr>
          <p:cNvPr id="249" name="Google Shape;249;p26"/>
          <p:cNvSpPr/>
          <p:nvPr/>
        </p:nvSpPr>
        <p:spPr>
          <a:xfrm>
            <a:off x="571500" y="571500"/>
            <a:ext cx="57150" cy="5429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6"/>
          <p:cNvSpPr txBox="1"/>
          <p:nvPr/>
        </p:nvSpPr>
        <p:spPr>
          <a:xfrm>
            <a:off x="6334125" y="3057525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Platform Incompatibility</a:t>
            </a:r>
            <a:endParaRPr/>
          </a:p>
        </p:txBody>
      </p:sp>
      <p:sp>
        <p:nvSpPr>
          <p:cNvPr id="251" name="Google Shape;251;p26"/>
          <p:cNvSpPr txBox="1"/>
          <p:nvPr/>
        </p:nvSpPr>
        <p:spPr>
          <a:xfrm>
            <a:off x="6334125" y="3524250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failure was injected where the MPI binary was incompatible with the environment. The gRPC server remained alive, returned internal errors, and triggered client retries.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6" name="Google Shape;25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7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OBSERVED RESILIENCE</a:t>
            </a:r>
            <a:endParaRPr/>
          </a:p>
        </p:txBody>
      </p:sp>
      <p:sp>
        <p:nvSpPr>
          <p:cNvPr id="258" name="Google Shape;258;p27"/>
          <p:cNvSpPr/>
          <p:nvPr/>
        </p:nvSpPr>
        <p:spPr>
          <a:xfrm>
            <a:off x="571500" y="571500"/>
            <a:ext cx="57150" cy="5429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7"/>
          <p:cNvSpPr txBox="1"/>
          <p:nvPr/>
        </p:nvSpPr>
        <p:spPr>
          <a:xfrm>
            <a:off x="952500" y="3090862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Service Stability: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The gRPC wrapper prevented system-wide crashes during backend failures.</a:t>
            </a:r>
            <a:endParaRPr/>
          </a:p>
        </p:txBody>
      </p:sp>
      <p:sp>
        <p:nvSpPr>
          <p:cNvPr id="260" name="Google Shape;260;p27"/>
          <p:cNvSpPr txBox="1"/>
          <p:nvPr/>
        </p:nvSpPr>
        <p:spPr>
          <a:xfrm>
            <a:off x="952500" y="3586162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Automated Recovery: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Client retry logic correctly identified failed requests and redirected traffic.</a:t>
            </a:r>
            <a:endParaRPr/>
          </a:p>
        </p:txBody>
      </p:sp>
      <p:sp>
        <p:nvSpPr>
          <p:cNvPr id="261" name="Google Shape;261;p27"/>
          <p:cNvSpPr txBox="1"/>
          <p:nvPr/>
        </p:nvSpPr>
        <p:spPr>
          <a:xfrm>
            <a:off x="952500" y="4081462"/>
            <a:ext cx="10668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Data Integrity: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Metrics collected in test_metrics.csv confirmed all requests were eventually fulfilled.</a:t>
            </a:r>
            <a:endParaRPr/>
          </a:p>
        </p:txBody>
      </p:sp>
      <p:pic>
        <p:nvPicPr>
          <p:cNvPr descr="image.png" id="262" name="Google Shape;26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09086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58616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081462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9" name="Google Shape;26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70" name="Google Shape;270;p28"/>
          <p:cNvGraphicFramePr/>
          <p:nvPr/>
        </p:nvGraphicFramePr>
        <p:xfrm>
          <a:off x="571500" y="25527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{F1F821A0-80F1-401C-AF34-D58A31AA1EB3}</a:tableStyleId>
              </a:tblPr>
              <a:tblGrid>
                <a:gridCol w="3073750"/>
                <a:gridCol w="2547500"/>
                <a:gridCol w="5427750"/>
              </a:tblGrid>
              <a:tr h="69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Performance Metric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Measured Value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Operational Impact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9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Average Latency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201.52 ms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Near real-time response capability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Throughput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0.75 req/sec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Steady handling of distributed workloads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9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Recovery Time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0.75 seconds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Rapid failover to active replicas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1" name="Google Shape;271;p28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SYSTEM METRICS</a:t>
            </a:r>
            <a:endParaRPr/>
          </a:p>
        </p:txBody>
      </p:sp>
      <p:sp>
        <p:nvSpPr>
          <p:cNvPr id="272" name="Google Shape;272;p28"/>
          <p:cNvSpPr/>
          <p:nvPr/>
        </p:nvSpPr>
        <p:spPr>
          <a:xfrm>
            <a:off x="571500" y="571500"/>
            <a:ext cx="57150" cy="5429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8"/>
          <p:cNvSpPr/>
          <p:nvPr/>
        </p:nvSpPr>
        <p:spPr>
          <a:xfrm>
            <a:off x="571500" y="3919537"/>
            <a:ext cx="30737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8"/>
          <p:cNvSpPr/>
          <p:nvPr/>
        </p:nvSpPr>
        <p:spPr>
          <a:xfrm>
            <a:off x="3645247" y="3919537"/>
            <a:ext cx="25474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8"/>
          <p:cNvSpPr/>
          <p:nvPr/>
        </p:nvSpPr>
        <p:spPr>
          <a:xfrm>
            <a:off x="6192738" y="3919537"/>
            <a:ext cx="54277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8"/>
          <p:cNvSpPr/>
          <p:nvPr/>
        </p:nvSpPr>
        <p:spPr>
          <a:xfrm>
            <a:off x="571500" y="4614862"/>
            <a:ext cx="30737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8"/>
          <p:cNvSpPr/>
          <p:nvPr/>
        </p:nvSpPr>
        <p:spPr>
          <a:xfrm>
            <a:off x="3645247" y="4614862"/>
            <a:ext cx="25474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8"/>
          <p:cNvSpPr/>
          <p:nvPr/>
        </p:nvSpPr>
        <p:spPr>
          <a:xfrm>
            <a:off x="6192738" y="4614862"/>
            <a:ext cx="54277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8"/>
          <p:cNvSpPr/>
          <p:nvPr/>
        </p:nvSpPr>
        <p:spPr>
          <a:xfrm>
            <a:off x="571500" y="5310187"/>
            <a:ext cx="30737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8"/>
          <p:cNvSpPr/>
          <p:nvPr/>
        </p:nvSpPr>
        <p:spPr>
          <a:xfrm>
            <a:off x="3645247" y="5310187"/>
            <a:ext cx="25474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8"/>
          <p:cNvSpPr/>
          <p:nvPr/>
        </p:nvSpPr>
        <p:spPr>
          <a:xfrm>
            <a:off x="6192738" y="5310187"/>
            <a:ext cx="54277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6" name="Google Shape;28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1049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9"/>
          <p:cNvSpPr/>
          <p:nvPr/>
        </p:nvSpPr>
        <p:spPr>
          <a:xfrm>
            <a:off x="5048250" y="3067050"/>
            <a:ext cx="952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9"/>
          <p:cNvSpPr txBox="1"/>
          <p:nvPr/>
        </p:nvSpPr>
        <p:spPr>
          <a:xfrm>
            <a:off x="323850" y="2066925"/>
            <a:ext cx="1040130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/>
          </a:p>
        </p:txBody>
      </p:sp>
      <p:sp>
        <p:nvSpPr>
          <p:cNvPr id="290" name="Google Shape;290;p29"/>
          <p:cNvSpPr txBox="1"/>
          <p:nvPr/>
        </p:nvSpPr>
        <p:spPr>
          <a:xfrm>
            <a:off x="323850" y="3105150"/>
            <a:ext cx="1040130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Advanced Streaming</a:t>
            </a:r>
            <a:endParaRPr/>
          </a:p>
        </p:txBody>
      </p:sp>
      <p:sp>
        <p:nvSpPr>
          <p:cNvPr id="291" name="Google Shape;291;p29"/>
          <p:cNvSpPr txBox="1"/>
          <p:nvPr/>
        </p:nvSpPr>
        <p:spPr>
          <a:xfrm>
            <a:off x="571500" y="4295775"/>
            <a:ext cx="9906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Spark Structured Streaming Integration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6" name="Google Shape;29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30"/>
          <p:cNvSpPr/>
          <p:nvPr/>
        </p:nvSpPr>
        <p:spPr>
          <a:xfrm>
            <a:off x="571500" y="3724275"/>
            <a:ext cx="11049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0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REAL-TIME PIPELINE</a:t>
            </a:r>
            <a:endParaRPr/>
          </a:p>
        </p:txBody>
      </p:sp>
      <p:sp>
        <p:nvSpPr>
          <p:cNvPr id="299" name="Google Shape;299;p30"/>
          <p:cNvSpPr/>
          <p:nvPr/>
        </p:nvSpPr>
        <p:spPr>
          <a:xfrm>
            <a:off x="571500" y="571500"/>
            <a:ext cx="57150" cy="5429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30"/>
          <p:cNvSpPr txBox="1"/>
          <p:nvPr/>
        </p:nvSpPr>
        <p:spPr>
          <a:xfrm>
            <a:off x="510733" y="3724275"/>
            <a:ext cx="25521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Ingestion</a:t>
            </a:r>
            <a:endParaRPr/>
          </a:p>
        </p:txBody>
      </p:sp>
      <p:sp>
        <p:nvSpPr>
          <p:cNvPr id="301" name="Google Shape;301;p30"/>
          <p:cNvSpPr txBox="1"/>
          <p:nvPr/>
        </p:nvSpPr>
        <p:spPr>
          <a:xfrm>
            <a:off x="571500" y="4191000"/>
            <a:ext cx="24306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Spark Data Generator continuously produces text events.</a:t>
            </a:r>
            <a:endParaRPr/>
          </a:p>
        </p:txBody>
      </p:sp>
      <p:sp>
        <p:nvSpPr>
          <p:cNvPr id="302" name="Google Shape;302;p30"/>
          <p:cNvSpPr txBox="1"/>
          <p:nvPr/>
        </p:nvSpPr>
        <p:spPr>
          <a:xfrm>
            <a:off x="3383413" y="3724275"/>
            <a:ext cx="25521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Streaming</a:t>
            </a:r>
            <a:endParaRPr/>
          </a:p>
        </p:txBody>
      </p:sp>
      <p:sp>
        <p:nvSpPr>
          <p:cNvPr id="303" name="Google Shape;303;p30"/>
          <p:cNvSpPr txBox="1"/>
          <p:nvPr/>
        </p:nvSpPr>
        <p:spPr>
          <a:xfrm>
            <a:off x="3444180" y="4191000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Spark Structured Streaming processes micro-batches.</a:t>
            </a:r>
            <a:endParaRPr/>
          </a:p>
        </p:txBody>
      </p:sp>
      <p:sp>
        <p:nvSpPr>
          <p:cNvPr id="304" name="Google Shape;304;p30"/>
          <p:cNvSpPr txBox="1"/>
          <p:nvPr/>
        </p:nvSpPr>
        <p:spPr>
          <a:xfrm>
            <a:off x="6256094" y="3724275"/>
            <a:ext cx="25521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UDF Integration</a:t>
            </a:r>
            <a:endParaRPr/>
          </a:p>
        </p:txBody>
      </p:sp>
      <p:sp>
        <p:nvSpPr>
          <p:cNvPr id="305" name="Google Shape;305;p30"/>
          <p:cNvSpPr txBox="1"/>
          <p:nvPr/>
        </p:nvSpPr>
        <p:spPr>
          <a:xfrm>
            <a:off x="6316860" y="4191000"/>
            <a:ext cx="24306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Spark invokes gRPC logic via custom User-Defined Functions.</a:t>
            </a:r>
            <a:endParaRPr/>
          </a:p>
        </p:txBody>
      </p:sp>
      <p:sp>
        <p:nvSpPr>
          <p:cNvPr id="306" name="Google Shape;306;p30"/>
          <p:cNvSpPr txBox="1"/>
          <p:nvPr/>
        </p:nvSpPr>
        <p:spPr>
          <a:xfrm>
            <a:off x="9128774" y="3724275"/>
            <a:ext cx="25521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Checkpoints</a:t>
            </a:r>
            <a:endParaRPr/>
          </a:p>
        </p:txBody>
      </p:sp>
      <p:sp>
        <p:nvSpPr>
          <p:cNvPr id="307" name="Google Shape;307;p30"/>
          <p:cNvSpPr txBox="1"/>
          <p:nvPr/>
        </p:nvSpPr>
        <p:spPr>
          <a:xfrm>
            <a:off x="9189541" y="4191000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Fault tolerance is ensured through Spark checkpointing.</a:t>
            </a:r>
            <a:endParaRPr/>
          </a:p>
        </p:txBody>
      </p:sp>
      <p:sp>
        <p:nvSpPr>
          <p:cNvPr id="308" name="Google Shape;308;p30"/>
          <p:cNvSpPr/>
          <p:nvPr/>
        </p:nvSpPr>
        <p:spPr>
          <a:xfrm>
            <a:off x="1691580" y="3343275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30"/>
          <p:cNvSpPr/>
          <p:nvPr/>
        </p:nvSpPr>
        <p:spPr>
          <a:xfrm>
            <a:off x="4564260" y="3343275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30"/>
          <p:cNvSpPr/>
          <p:nvPr/>
        </p:nvSpPr>
        <p:spPr>
          <a:xfrm>
            <a:off x="7436941" y="3343275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30"/>
          <p:cNvSpPr/>
          <p:nvPr/>
        </p:nvSpPr>
        <p:spPr>
          <a:xfrm>
            <a:off x="10309621" y="3343275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6" name="Google Shape;31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7" name="Google Shape;317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95550"/>
            <a:ext cx="3492549" cy="2695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8" name="Google Shape;318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495550"/>
            <a:ext cx="3492549" cy="2695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9" name="Google Shape;319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495550"/>
            <a:ext cx="3492549" cy="2695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0" name="Google Shape;320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29146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1" name="Google Shape;321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30799" y="29146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2" name="Google Shape;322;p3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09099" y="2914650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1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SYSTEM BENEFITS</a:t>
            </a:r>
            <a:endParaRPr/>
          </a:p>
        </p:txBody>
      </p:sp>
      <p:sp>
        <p:nvSpPr>
          <p:cNvPr id="324" name="Google Shape;324;p31"/>
          <p:cNvSpPr/>
          <p:nvPr/>
        </p:nvSpPr>
        <p:spPr>
          <a:xfrm>
            <a:off x="571500" y="571500"/>
            <a:ext cx="57150" cy="5429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31"/>
          <p:cNvSpPr txBox="1"/>
          <p:nvPr/>
        </p:nvSpPr>
        <p:spPr>
          <a:xfrm>
            <a:off x="952500" y="3486150"/>
            <a:ext cx="286707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Scalability</a:t>
            </a:r>
            <a:endParaRPr/>
          </a:p>
        </p:txBody>
      </p:sp>
      <p:sp>
        <p:nvSpPr>
          <p:cNvPr id="326" name="Google Shape;326;p31"/>
          <p:cNvSpPr txBox="1"/>
          <p:nvPr/>
        </p:nvSpPr>
        <p:spPr>
          <a:xfrm>
            <a:off x="952500" y="4010025"/>
            <a:ext cx="273054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Modular design allows adding servers or MPI nodes as needed.</a:t>
            </a:r>
            <a:endParaRPr/>
          </a:p>
        </p:txBody>
      </p:sp>
      <p:sp>
        <p:nvSpPr>
          <p:cNvPr id="327" name="Google Shape;327;p31"/>
          <p:cNvSpPr txBox="1"/>
          <p:nvPr/>
        </p:nvSpPr>
        <p:spPr>
          <a:xfrm>
            <a:off x="4730799" y="3486150"/>
            <a:ext cx="286707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Modularity</a:t>
            </a:r>
            <a:endParaRPr/>
          </a:p>
        </p:txBody>
      </p:sp>
      <p:sp>
        <p:nvSpPr>
          <p:cNvPr id="328" name="Google Shape;328;p31"/>
          <p:cNvSpPr txBox="1"/>
          <p:nvPr/>
        </p:nvSpPr>
        <p:spPr>
          <a:xfrm>
            <a:off x="4730799" y="4010025"/>
            <a:ext cx="273054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Decouples business logic from the core streaming engine.</a:t>
            </a:r>
            <a:endParaRPr/>
          </a:p>
        </p:txBody>
      </p:sp>
      <p:sp>
        <p:nvSpPr>
          <p:cNvPr id="329" name="Google Shape;329;p31"/>
          <p:cNvSpPr txBox="1"/>
          <p:nvPr/>
        </p:nvSpPr>
        <p:spPr>
          <a:xfrm>
            <a:off x="8509099" y="3486150"/>
            <a:ext cx="286707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Production Ready</a:t>
            </a:r>
            <a:endParaRPr/>
          </a:p>
        </p:txBody>
      </p:sp>
      <p:sp>
        <p:nvSpPr>
          <p:cNvPr id="330" name="Google Shape;330;p31"/>
          <p:cNvSpPr txBox="1"/>
          <p:nvPr/>
        </p:nvSpPr>
        <p:spPr>
          <a:xfrm>
            <a:off x="8509099" y="4010025"/>
            <a:ext cx="273054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Architecture mimics production-grade distributed pipelines.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5" name="Google Shape;33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6" name="Google Shape;336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96516"/>
            <a:ext cx="11049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32"/>
          <p:cNvSpPr txBox="1"/>
          <p:nvPr/>
        </p:nvSpPr>
        <p:spPr>
          <a:xfrm>
            <a:off x="571500" y="4780508"/>
            <a:ext cx="11049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www.parallel-wc-project.io</a:t>
            </a:r>
            <a:endParaRPr/>
          </a:p>
        </p:txBody>
      </p:sp>
      <p:sp>
        <p:nvSpPr>
          <p:cNvPr id="338" name="Google Shape;338;p32"/>
          <p:cNvSpPr txBox="1"/>
          <p:nvPr/>
        </p:nvSpPr>
        <p:spPr>
          <a:xfrm>
            <a:off x="295275" y="2849016"/>
            <a:ext cx="11601450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339" name="Google Shape;339;p32"/>
          <p:cNvSpPr txBox="1"/>
          <p:nvPr/>
        </p:nvSpPr>
        <p:spPr>
          <a:xfrm>
            <a:off x="571500" y="3805237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Parallel Word Count System Performance Analysis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